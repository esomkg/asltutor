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0" cy="548640"/>
          </a:xfrm>
          <a:prstGeom prst="rect">
            <a:avLst/>
          </a:prstGeom>
          <a:solidFill>
            <a:srgbClr val="2A2A14"/>
          </a:solidFill>
          <a:ln w="127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430000" y="0"/>
            <a:ext cx="548640" cy="548640"/>
          </a:xfrm>
          <a:prstGeom prst="rect">
            <a:avLst/>
          </a:prstGeom>
          <a:solidFill>
            <a:srgbClr val="2A2A14"/>
          </a:solidFill>
          <a:ln w="127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548640" cy="548640"/>
          </a:xfrm>
          <a:prstGeom prst="rect">
            <a:avLst/>
          </a:prstGeom>
          <a:solidFill>
            <a:srgbClr val="2A2A14"/>
          </a:solidFill>
          <a:ln w="127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430000" y="6217920"/>
            <a:ext cx="548640" cy="548640"/>
          </a:xfrm>
          <a:prstGeom prst="rect">
            <a:avLst/>
          </a:prstGeom>
          <a:solidFill>
            <a:srgbClr val="2A2A14"/>
          </a:solidFill>
          <a:ln w="127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0" y="182880"/>
            <a:ext cx="548640" cy="548640"/>
          </a:xfrm>
          <a:prstGeom prst="rect">
            <a:avLst/>
          </a:prstGeom>
          <a:solidFill>
            <a:srgbClr val="2A2A14"/>
          </a:solidFill>
          <a:ln w="127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0" y="1005840"/>
            <a:ext cx="4873752" cy="384048"/>
          </a:xfrm>
          <a:prstGeom prst="rect">
            <a:avLst/>
          </a:prstGeom>
          <a:solidFill>
            <a:srgbClr val="2A3A0A"/>
          </a:solidFill>
          <a:ln w="25400">
            <a:solidFill>
              <a:srgbClr val="8AB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0" y="1024128"/>
            <a:ext cx="4873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D040"/>
                </a:solidFill>
              </a:rPr>
              <a:t>[ American Sign Language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00200"/>
            <a:ext cx="94457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0F0E0"/>
                </a:solidFill>
              </a:rPr>
              <a:t>SignQuest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664208"/>
            <a:ext cx="94457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3A3A10"/>
                </a:solidFill>
              </a:rPr>
              <a:t>SignQuest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01752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A0A080"/>
                </a:solidFill>
              </a:rPr>
              <a:t>Learn ASL. Play. Grow.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3703320"/>
            <a:ext cx="5788152" cy="36576"/>
          </a:xfrm>
          <a:prstGeom prst="rect">
            <a:avLst/>
          </a:prstGeom>
          <a:solidFill>
            <a:srgbClr val="4A4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384048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08060"/>
                </a:solidFill>
              </a:rPr>
              <a:t>A gamified web app for learning American Sign Language
through real-time ML feedback, games, and an AI tutor.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93776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08060"/>
                </a:solidFill>
              </a:rPr>
              <a:t>Hackathon 2026  ·  Solo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4040"/>
                </a:solidFill>
              </a:rPr>
              <a:t>😔  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6576"/>
          </a:xfrm>
          <a:prstGeom prst="rect">
            <a:avLst/>
          </a:prstGeom>
          <a:solidFill>
            <a:srgbClr val="C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5303520" cy="1920240"/>
          </a:xfrm>
          <a:prstGeom prst="rect">
            <a:avLst/>
          </a:prstGeom>
          <a:solidFill>
            <a:srgbClr val="2A1010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C84040"/>
                </a:solidFill>
              </a:rPr>
              <a:t>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3258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0E0"/>
                </a:solidFill>
              </a:rPr>
              <a:t>of deaf children in Nigeria
are out of school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154680"/>
            <a:ext cx="5303520" cy="2560320"/>
          </a:xfrm>
          <a:prstGeom prst="rect">
            <a:avLst/>
          </a:prstGeom>
          <a:solidFill>
            <a:srgbClr val="2A2A14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C030"/>
                </a:solidFill>
              </a:rPr>
              <a:t>A Personal 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033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80"/>
                </a:solidFill>
              </a:rPr>
              <a:t>My cousin, who has hearing difficulties, was never taught
sign language early on — leading to social isolation and
a language barrier that could have been prevented.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51560"/>
            <a:ext cx="5486400" cy="4663440"/>
          </a:xfrm>
          <a:prstGeom prst="rect">
            <a:avLst/>
          </a:prstGeom>
          <a:solidFill>
            <a:srgbClr val="2A2A14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188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D040"/>
                </a:solidFill>
              </a:rPr>
              <a:t>The Reality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E0"/>
                </a:solidFill>
              </a:rPr>
              <a:t>▸  Sign language is marginalized worldwide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32888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80"/>
                </a:solidFill>
              </a:rPr>
              <a:t>▸  Severe communication barriers for the deaf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82696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E0"/>
                </a:solidFill>
              </a:rPr>
              <a:t>▸  Lack of accessible education for children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032504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80"/>
                </a:solidFill>
              </a:rPr>
              <a:t>▸  Early language gaps cause lifelong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782312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E0"/>
                </a:solidFill>
              </a:rPr>
              <a:t>▸  Most families don't know where to start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A0D040"/>
                </a:solidFill>
              </a:rPr>
              <a:t>💡  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6576"/>
          </a:xfrm>
          <a:prstGeom prst="rect">
            <a:avLst/>
          </a:prstGeom>
          <a:solidFill>
            <a:srgbClr val="A0D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80"/>
                </a:solidFill>
              </a:rPr>
              <a:t>SignQuest is a gamified web app that teaches ASL letters &amp; numbers
through real-time ML-powered feedback — built for children.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4206240"/>
          </a:xfrm>
          <a:prstGeom prst="rect">
            <a:avLst/>
          </a:prstGeom>
          <a:solidFill>
            <a:srgbClr val="5A7A1A"/>
          </a:solidFill>
          <a:ln w="38100">
            <a:solidFill>
              <a:srgbClr val="8AB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0F0E0"/>
                </a:solidFill>
              </a:rPr>
              <a:t>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F0E0"/>
                </a:solidFill>
              </a:rPr>
              <a:t>Gamified
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0FFD0"/>
                </a:solidFill>
              </a:rPr>
              <a:t>Earn points, unlock
levels, stay motivated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011680"/>
            <a:ext cx="2743200" cy="4206240"/>
          </a:xfrm>
          <a:prstGeom prst="rect">
            <a:avLst/>
          </a:prstGeom>
          <a:solidFill>
            <a:srgbClr val="5A5A5A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0" y="219456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0F0E0"/>
                </a:solidFill>
              </a:rPr>
              <a:t>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063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F0E0"/>
                </a:solidFill>
              </a:rPr>
              <a:t>Real-Time
ML 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8404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0FFD0"/>
                </a:solidFill>
              </a:rPr>
              <a:t>Webcam model corrects
your signing live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011680"/>
            <a:ext cx="2743200" cy="4206240"/>
          </a:xfrm>
          <a:prstGeom prst="rect">
            <a:avLst/>
          </a:prstGeom>
          <a:solidFill>
            <a:srgbClr val="5A1A7A"/>
          </a:solidFill>
          <a:ln w="38100">
            <a:solidFill>
              <a:srgbClr val="9A4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0" y="219456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0F0E0"/>
                </a:solidFill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63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F0E0"/>
                </a:solidFill>
              </a:rPr>
              <a:t>AI Tutor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404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0FFD0"/>
                </a:solidFill>
              </a:rPr>
              <a:t>Recommends videos,
classes &amp; schools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2011680"/>
            <a:ext cx="2743200" cy="4206240"/>
          </a:xfrm>
          <a:prstGeom prst="rect">
            <a:avLst/>
          </a:prstGeom>
          <a:solidFill>
            <a:srgbClr val="0A5A5A"/>
          </a:solidFill>
          <a:ln w="38100">
            <a:solidFill>
              <a:srgbClr val="2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0" y="219456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0F0E0"/>
                </a:solidFill>
              </a:rPr>
              <a:t>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063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F0E0"/>
                </a:solidFill>
              </a:rPr>
              <a:t>Spaced
Repetition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8404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0FFD0"/>
                </a:solidFill>
              </a:rPr>
              <a:t>Signs stick through
smart review cycles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C030"/>
                </a:solidFill>
              </a:rPr>
              <a:t>🎯  Who Is This For?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6576"/>
          </a:xfrm>
          <a:prstGeom prst="rect">
            <a:avLst/>
          </a:prstGeom>
          <a:solidFill>
            <a:srgbClr val="F0C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5303520" cy="5303520"/>
          </a:xfrm>
          <a:prstGeom prst="rect">
            <a:avLst/>
          </a:prstGeom>
          <a:solidFill>
            <a:srgbClr val="2A2A14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03120" y="12801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F0F0E0"/>
                </a:solidFill>
              </a:rPr>
              <a:t>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C030"/>
                </a:solidFill>
              </a:rPr>
              <a:t>Children with
hearing disabilities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033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080"/>
                </a:solidFill>
              </a:rPr>
              <a:t>Early development is the critical
window for language acquisition.
We meet them there.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51560"/>
            <a:ext cx="5486400" cy="5303520"/>
          </a:xfrm>
          <a:prstGeom prst="rect">
            <a:avLst/>
          </a:prstGeom>
          <a:solidFill>
            <a:srgbClr val="2A2A14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C030"/>
                </a:solidFill>
              </a:rPr>
              <a:t>Why Start Early?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91640"/>
            <a:ext cx="5120640" cy="36576"/>
          </a:xfrm>
          <a:prstGeom prst="rect">
            <a:avLst/>
          </a:prstGeom>
          <a:solidFill>
            <a:srgbClr val="4A4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874519"/>
            <a:ext cx="5120640" cy="749808"/>
          </a:xfrm>
          <a:prstGeom prst="rect">
            <a:avLst/>
          </a:prstGeom>
          <a:solidFill>
            <a:srgbClr val="2D2D0F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938528"/>
            <a:ext cx="4846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D040"/>
                </a:solidFill>
              </a:rPr>
              <a:t>✓  Language skills form in early childhood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743200"/>
            <a:ext cx="5120640" cy="749808"/>
          </a:xfrm>
          <a:prstGeom prst="rect">
            <a:avLst/>
          </a:prstGeom>
          <a:solidFill>
            <a:srgbClr val="2D2D0F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2807208"/>
            <a:ext cx="4846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D040"/>
                </a:solidFill>
              </a:rPr>
              <a:t>✓  Early ASL exposure improves literacy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611879"/>
            <a:ext cx="5120640" cy="749808"/>
          </a:xfrm>
          <a:prstGeom prst="rect">
            <a:avLst/>
          </a:prstGeom>
          <a:solidFill>
            <a:srgbClr val="2D2D0F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3675887"/>
            <a:ext cx="4846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D040"/>
                </a:solidFill>
              </a:rPr>
              <a:t>✓  Prevents social isolation before it starts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480559"/>
            <a:ext cx="5120640" cy="749808"/>
          </a:xfrm>
          <a:prstGeom prst="rect">
            <a:avLst/>
          </a:prstGeom>
          <a:solidFill>
            <a:srgbClr val="2D2D0F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4544568"/>
            <a:ext cx="4846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D040"/>
                </a:solidFill>
              </a:rPr>
              <a:t>✓  Games = higher engagement for kids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5349240"/>
            <a:ext cx="5120640" cy="749808"/>
          </a:xfrm>
          <a:prstGeom prst="rect">
            <a:avLst/>
          </a:prstGeom>
          <a:solidFill>
            <a:srgbClr val="2D2D0F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5413248"/>
            <a:ext cx="4846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D040"/>
                </a:solidFill>
              </a:rPr>
              <a:t>✓  Builds confidence and communication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A4AC8"/>
                </a:solidFill>
              </a:rPr>
              <a:t>⚔️  vs. The Competition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6576"/>
          </a:xfrm>
          <a:prstGeom prst="rect">
            <a:avLst/>
          </a:prstGeom>
          <a:solidFill>
            <a:srgbClr val="9A4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5303520" cy="548640"/>
          </a:xfrm>
          <a:prstGeom prst="rect">
            <a:avLst/>
          </a:prstGeom>
          <a:solidFill>
            <a:srgbClr val="3A103A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17920" y="1051560"/>
            <a:ext cx="5486400" cy="548640"/>
          </a:xfrm>
          <a:prstGeom prst="rect">
            <a:avLst/>
          </a:prstGeom>
          <a:solidFill>
            <a:srgbClr val="5A7A1A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0A080"/>
                </a:solidFill>
              </a:rPr>
              <a:t>Others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F0E0"/>
                </a:solidFill>
              </a:rPr>
              <a:t>SignQuest  🤟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5303520" cy="749808"/>
          </a:xfrm>
          <a:prstGeom prst="rect">
            <a:avLst/>
          </a:prstGeom>
          <a:solidFill>
            <a:srgbClr val="2A2A14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486400" cy="749808"/>
          </a:xfrm>
          <a:prstGeom prst="rect">
            <a:avLst/>
          </a:prstGeom>
          <a:solidFill>
            <a:srgbClr val="2A2A14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84708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4040"/>
                </a:solidFill>
              </a:rPr>
              <a:t>✗  Static flashcards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84708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D040"/>
                </a:solidFill>
              </a:rPr>
              <a:t>✓  Real-time webcam signing practice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06039"/>
            <a:ext cx="5303520" cy="749808"/>
          </a:xfrm>
          <a:prstGeom prst="rect">
            <a:avLst/>
          </a:prstGeom>
          <a:solidFill>
            <a:srgbClr val="2D2D0F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2606039"/>
            <a:ext cx="5486400" cy="749808"/>
          </a:xfrm>
          <a:prstGeom prst="rect">
            <a:avLst/>
          </a:prstGeom>
          <a:solidFill>
            <a:srgbClr val="2D2D0F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7157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4040"/>
                </a:solidFill>
              </a:rPr>
              <a:t>✗  No feedback on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71576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D040"/>
                </a:solidFill>
              </a:rPr>
              <a:t>✓  ML model corrects your signs live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74720"/>
            <a:ext cx="5303520" cy="749808"/>
          </a:xfrm>
          <a:prstGeom prst="rect">
            <a:avLst/>
          </a:prstGeom>
          <a:solidFill>
            <a:srgbClr val="2A2A14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3474720"/>
            <a:ext cx="5486400" cy="749808"/>
          </a:xfrm>
          <a:prstGeom prst="rect">
            <a:avLst/>
          </a:prstGeom>
          <a:solidFill>
            <a:srgbClr val="2A2A14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58444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4040"/>
                </a:solidFill>
              </a:rPr>
              <a:t>✗  Passive watching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58444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D040"/>
                </a:solidFill>
              </a:rPr>
              <a:t>✓  Active gamified challenges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43400"/>
            <a:ext cx="5303520" cy="749808"/>
          </a:xfrm>
          <a:prstGeom prst="rect">
            <a:avLst/>
          </a:prstGeom>
          <a:solidFill>
            <a:srgbClr val="2D2D0F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4343400"/>
            <a:ext cx="5486400" cy="749808"/>
          </a:xfrm>
          <a:prstGeom prst="rect">
            <a:avLst/>
          </a:prstGeom>
          <a:solidFill>
            <a:srgbClr val="2D2D0F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445312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4040"/>
                </a:solidFill>
              </a:rPr>
              <a:t>✗  No personalization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45312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D040"/>
                </a:solidFill>
              </a:rPr>
              <a:t>✓  AI tutor + spaced repetition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12079"/>
            <a:ext cx="5303520" cy="749808"/>
          </a:xfrm>
          <a:prstGeom prst="rect">
            <a:avLst/>
          </a:prstGeom>
          <a:solidFill>
            <a:srgbClr val="2A2A14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7920" y="5212079"/>
            <a:ext cx="5486400" cy="749808"/>
          </a:xfrm>
          <a:prstGeom prst="rect">
            <a:avLst/>
          </a:prstGeom>
          <a:solidFill>
            <a:srgbClr val="2A2A14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5321807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4040"/>
                </a:solidFill>
              </a:rPr>
              <a:t>✗  Not built for children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321807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D040"/>
                </a:solidFill>
              </a:rPr>
              <a:t>✓  Designed for early childhood 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0A8A8"/>
                </a:solidFill>
              </a:rPr>
              <a:t>⚙️  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6576"/>
          </a:xfrm>
          <a:prstGeom prst="rect">
            <a:avLst/>
          </a:prstGeom>
          <a:solidFill>
            <a:srgbClr val="2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651760" cy="3474720"/>
          </a:xfrm>
          <a:prstGeom prst="rect">
            <a:avLst/>
          </a:prstGeom>
          <a:solidFill>
            <a:srgbClr val="2A2A14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12801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0F0E0"/>
                </a:solidFill>
              </a:rPr>
              <a:t>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0D040"/>
                </a:solidFill>
              </a:rPr>
              <a:t>Webcam
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080"/>
                </a:solidFill>
              </a:rPr>
              <a:t>MediaPipe
hand landmarks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2860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C030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097280"/>
            <a:ext cx="2651760" cy="3474720"/>
          </a:xfrm>
          <a:prstGeom prst="rect">
            <a:avLst/>
          </a:prstGeom>
          <a:solidFill>
            <a:srgbClr val="2A2A14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69080" y="12801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0F0E0"/>
                </a:solidFill>
              </a:rP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402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0D040"/>
                </a:solidFill>
              </a:rPr>
              <a:t>ML Classifier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9260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080"/>
                </a:solidFill>
              </a:rPr>
              <a:t>Scikit-learn
letters &amp; numbers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2860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C03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097280"/>
            <a:ext cx="2651760" cy="3474720"/>
          </a:xfrm>
          <a:prstGeom prst="rect">
            <a:avLst/>
          </a:prstGeom>
          <a:solidFill>
            <a:srgbClr val="2A2A14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95160" y="12801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0F0E0"/>
                </a:solidFill>
              </a:rPr>
              <a:t>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402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0D040"/>
                </a:solidFill>
              </a:rPr>
              <a:t>Game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080"/>
                </a:solidFill>
              </a:rPr>
              <a:t>React frontend
gamified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2860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C030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097280"/>
            <a:ext cx="2651760" cy="3474720"/>
          </a:xfrm>
          <a:prstGeom prst="rect">
            <a:avLst/>
          </a:prstGeom>
          <a:solidFill>
            <a:srgbClr val="2A2A14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21240" y="12801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0F0E0"/>
                </a:solidFill>
              </a:rPr>
              <a:t>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2402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0D040"/>
                </a:solidFill>
              </a:rPr>
              <a:t>AI Tutor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9260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080"/>
                </a:solidFill>
              </a:rPr>
              <a:t>LLM + spaced
repetition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46320"/>
            <a:ext cx="11274552" cy="384048"/>
          </a:xfrm>
          <a:prstGeom prst="rect">
            <a:avLst/>
          </a:prstGeom>
          <a:solidFill>
            <a:srgbClr val="2A3A0A"/>
          </a:solidFill>
          <a:ln w="25400">
            <a:solidFill>
              <a:srgbClr val="8AB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864607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D040"/>
                </a:solidFill>
              </a:rPr>
              <a:t>React + TypeScript  ·  FastAPI  ·  MediaPipe  ·  Scikit-learn  ·  Supabase  ·  WebSockets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440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60"/>
                </a:solidFill>
              </a:rPr>
              <a:t>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60"/>
                </a:solidFill>
              </a:rPr>
              <a:t>Browser  →  WebSocket  →  FastAPI backend  →  MediaPipe landmark extraction  →  ML classifier  →  Response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A0D040"/>
                </a:solidFill>
              </a:rPr>
              <a:t>👤  The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6576"/>
          </a:xfrm>
          <a:prstGeom prst="rect">
            <a:avLst/>
          </a:prstGeom>
          <a:solidFill>
            <a:srgbClr val="A0D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solidFill>
            <a:srgbClr val="2A2A14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03120" y="13258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F0F0E0"/>
                </a:solidFill>
              </a:rPr>
              <a:t>🧑‍💻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0D040"/>
                </a:solidFill>
              </a:rPr>
              <a:t>Solo Founder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310128"/>
            <a:ext cx="4389120" cy="36576"/>
          </a:xfrm>
          <a:prstGeom prst="rect">
            <a:avLst/>
          </a:prstGeom>
          <a:solidFill>
            <a:srgbClr val="4A4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080"/>
                </a:solidFill>
              </a:rPr>
              <a:t>Full-stack dev  ·  ML engineer  ·  Designer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1363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08060"/>
                </a:solidFill>
              </a:rPr>
              <a:t>(yes, all of it 😅)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407408"/>
            <a:ext cx="914400" cy="685800"/>
          </a:xfrm>
          <a:prstGeom prst="rect">
            <a:avLst/>
          </a:prstGeom>
          <a:solidFill>
            <a:srgbClr val="2D2D0F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4480560"/>
            <a:ext cx="8778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0D040"/>
                </a:solidFill>
              </a:rPr>
              <a:t>React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4407408"/>
            <a:ext cx="914400" cy="685800"/>
          </a:xfrm>
          <a:prstGeom prst="rect">
            <a:avLst/>
          </a:prstGeom>
          <a:solidFill>
            <a:srgbClr val="2D2D0F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64208" y="4480560"/>
            <a:ext cx="8778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0D040"/>
                </a:solidFill>
              </a:rPr>
              <a:t>FastAPI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4407408"/>
            <a:ext cx="914400" cy="685800"/>
          </a:xfrm>
          <a:prstGeom prst="rect">
            <a:avLst/>
          </a:prstGeom>
          <a:solidFill>
            <a:srgbClr val="2D2D0F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70048" y="4480560"/>
            <a:ext cx="8778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0D040"/>
                </a:solidFill>
              </a:rPr>
              <a:t>MediaPipe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4407408"/>
            <a:ext cx="914400" cy="685800"/>
          </a:xfrm>
          <a:prstGeom prst="rect">
            <a:avLst/>
          </a:prstGeom>
          <a:solidFill>
            <a:srgbClr val="2D2D0F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75887" y="4480560"/>
            <a:ext cx="8778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0D040"/>
                </a:solidFill>
              </a:rPr>
              <a:t>Sklearn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4407408"/>
            <a:ext cx="914400" cy="685800"/>
          </a:xfrm>
          <a:prstGeom prst="rect">
            <a:avLst/>
          </a:prstGeom>
          <a:solidFill>
            <a:srgbClr val="2D2D0F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81728" y="4480560"/>
            <a:ext cx="8778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0D040"/>
                </a:solidFill>
              </a:rPr>
              <a:t>Supabase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097280"/>
            <a:ext cx="5303520" cy="5029200"/>
          </a:xfrm>
          <a:prstGeom prst="rect">
            <a:avLst/>
          </a:prstGeom>
          <a:solidFill>
            <a:srgbClr val="2A2A14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12344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C030"/>
                </a:solidFill>
              </a:rPr>
              <a:t>🤖  AI Tools Used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1810512"/>
            <a:ext cx="4937760" cy="36576"/>
          </a:xfrm>
          <a:prstGeom prst="rect">
            <a:avLst/>
          </a:prstGeom>
          <a:solidFill>
            <a:srgbClr val="4A4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19202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80"/>
                </a:solidFill>
              </a:rPr>
              <a:t>Built with the help of AI assistants throughout
the entire development process.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2834640"/>
            <a:ext cx="4937760" cy="914400"/>
          </a:xfrm>
          <a:prstGeom prst="rect">
            <a:avLst/>
          </a:prstGeom>
          <a:solidFill>
            <a:srgbClr val="2D2D0F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20840" y="2999232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0A8A8"/>
                </a:solidFill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29260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0A8A8"/>
                </a:solidFill>
              </a:rPr>
              <a:t>Kiro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31012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80"/>
                </a:solidFill>
              </a:rPr>
              <a:t>AI IDE — code generation,
spec writing &amp; task planning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3886200"/>
            <a:ext cx="4937760" cy="914400"/>
          </a:xfrm>
          <a:prstGeom prst="rect">
            <a:avLst/>
          </a:prstGeom>
          <a:solidFill>
            <a:srgbClr val="2D2D0F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20840" y="4050791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C030"/>
                </a:solidFill>
              </a:rPr>
              <a:t>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977639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C030"/>
                </a:solidFill>
              </a:rPr>
              <a:t>Gemini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36168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80"/>
                </a:solidFill>
              </a:rPr>
              <a:t>Research, architecture
design &amp; problem solving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4937760"/>
            <a:ext cx="4937760" cy="914400"/>
          </a:xfrm>
          <a:prstGeom prst="rect">
            <a:avLst/>
          </a:prstGeom>
          <a:solidFill>
            <a:srgbClr val="2D2D0F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20840" y="5102352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A4AC8"/>
                </a:solidFill>
              </a:rPr>
              <a:t>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50292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A4AC8"/>
                </a:solidFill>
              </a:rPr>
              <a:t>Claude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541324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80"/>
                </a:solidFill>
              </a:rPr>
              <a:t>Code review, debugging
&amp; refactoring assistance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A4AC8"/>
                </a:solidFill>
              </a:rPr>
              <a:t>🚀  What's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6576"/>
          </a:xfrm>
          <a:prstGeom prst="rect">
            <a:avLst/>
          </a:prstGeom>
          <a:solidFill>
            <a:srgbClr val="9A4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3657600" cy="5212080"/>
          </a:xfrm>
          <a:prstGeom prst="rect">
            <a:avLst/>
          </a:prstGeom>
          <a:solidFill>
            <a:srgbClr val="5A7A1A"/>
          </a:solidFill>
          <a:ln w="38100">
            <a:solidFill>
              <a:srgbClr val="8AB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F0E0"/>
                </a:solidFill>
              </a:rPr>
              <a:t>Phase 1
(Now ✓)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3657600" cy="36576"/>
          </a:xfrm>
          <a:prstGeom prst="rect">
            <a:avLst/>
          </a:prstGeom>
          <a:solidFill>
            <a:srgbClr val="8AB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E0"/>
                </a:solidFill>
              </a:rPr>
              <a:t>▸  ASL letters A–Z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39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E0"/>
                </a:solidFill>
              </a:rPr>
              <a:t>▸  Numbers 0–9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E0"/>
                </a:solidFill>
              </a:rPr>
              <a:t>▸  Gamified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E0"/>
                </a:solidFill>
              </a:rPr>
              <a:t>▸  AI tutor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051560"/>
            <a:ext cx="3657600" cy="5212080"/>
          </a:xfrm>
          <a:prstGeom prst="rect">
            <a:avLst/>
          </a:prstGeom>
          <a:solidFill>
            <a:srgbClr val="7A6010"/>
          </a:solidFill>
          <a:ln w="38100">
            <a:solidFill>
              <a:srgbClr val="C8A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59" y="11430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F0E0"/>
                </a:solidFill>
              </a:rPr>
              <a:t>Phase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920240"/>
            <a:ext cx="3657600" cy="36576"/>
          </a:xfrm>
          <a:prstGeom prst="rect">
            <a:avLst/>
          </a:prstGeom>
          <a:solidFill>
            <a:srgbClr val="C8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21031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E0"/>
                </a:solidFill>
              </a:rPr>
              <a:t>▸  Full ASL word 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063239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E0"/>
                </a:solidFill>
              </a:rPr>
              <a:t>▸  LSTM model for words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0233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E0"/>
                </a:solidFill>
              </a:rPr>
              <a:t>▸  Translation feature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9834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E0"/>
                </a:solidFill>
              </a:rPr>
              <a:t>▸  More sign languages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1051560"/>
            <a:ext cx="3657600" cy="5212080"/>
          </a:xfrm>
          <a:prstGeom prst="rect">
            <a:avLst/>
          </a:prstGeom>
          <a:solidFill>
            <a:srgbClr val="0A5A5A"/>
          </a:solidFill>
          <a:ln w="38100">
            <a:solidFill>
              <a:srgbClr val="2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11430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F0E0"/>
                </a:solidFill>
              </a:rPr>
              <a:t>Phase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1920240"/>
            <a:ext cx="3657600" cy="36576"/>
          </a:xfrm>
          <a:prstGeom prst="rect">
            <a:avLst/>
          </a:prstGeom>
          <a:solidFill>
            <a:srgbClr val="2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19" y="21031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E0"/>
                </a:solidFill>
              </a:rPr>
              <a:t>▸  Full sentence recognition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3063239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E0"/>
                </a:solidFill>
              </a:rPr>
              <a:t>▸  NLP context understanding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E0"/>
                </a:solidFill>
              </a:rPr>
              <a:t>▸  Classroom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49834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E0"/>
                </a:solidFill>
              </a:rPr>
              <a:t>▸  Mobile 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C030"/>
                </a:solidFill>
              </a:rPr>
              <a:t>💬  Real Feedback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6576"/>
          </a:xfrm>
          <a:prstGeom prst="rect">
            <a:avLst/>
          </a:prstGeom>
          <a:solidFill>
            <a:srgbClr val="F0C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9445752" cy="3474720"/>
          </a:xfrm>
          <a:prstGeom prst="rect">
            <a:avLst/>
          </a:prstGeom>
          <a:solidFill>
            <a:srgbClr val="2A2A14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1005840"/>
            <a:ext cx="1097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0C030"/>
                </a:solidFill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865376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1" dirty="0">
                <a:solidFill>
                  <a:srgbClr val="F0F0E0"/>
                </a:solidFill>
              </a:rPr>
              <a:t>Wow Esom. This is amazing for kids who are in their early stages of development.</a:t>
            </a:r>
            <a:r>
              <a:rPr sz="1400" b="0" i="1" dirty="0">
                <a:solidFill>
                  <a:srgbClr val="F0F0E0"/>
                </a:solidFill>
              </a:rPr>
              <a:t>
The game made me want to keep going — I didn't want to stop!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256032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0C030"/>
                </a:solidFill>
              </a:rPr>
              <a:t>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434840"/>
            <a:ext cx="9445752" cy="36576"/>
          </a:xfrm>
          <a:prstGeom prst="rect">
            <a:avLst/>
          </a:prstGeom>
          <a:solidFill>
            <a:srgbClr val="4A4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4572000"/>
            <a:ext cx="9445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0C030"/>
                </a:solidFill>
              </a:rPr>
              <a:t>— My cousin, first-time user with hearing difficulties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5212080"/>
            <a:ext cx="5788152" cy="822960"/>
          </a:xfrm>
          <a:prstGeom prst="rect">
            <a:avLst/>
          </a:prstGeom>
          <a:solidFill>
            <a:srgbClr val="2D2D0F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532180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D040"/>
                </a:solidFill>
              </a:rPr>
              <a:t>✓  Tested with a real user  ·  Positive first session  ·  Kept practicing independently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0" cy="1371600"/>
          </a:xfrm>
          <a:prstGeom prst="rect">
            <a:avLst/>
          </a:prstGeom>
          <a:solidFill>
            <a:srgbClr val="2A2A14"/>
          </a:solidFill>
          <a:ln w="254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817352" y="0"/>
            <a:ext cx="1371600" cy="1371600"/>
          </a:xfrm>
          <a:prstGeom prst="rect">
            <a:avLst/>
          </a:prstGeom>
          <a:solidFill>
            <a:srgbClr val="2A2A14"/>
          </a:solidFill>
          <a:ln w="254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0"/>
            <a:ext cx="1371600" cy="1371600"/>
          </a:xfrm>
          <a:prstGeom prst="rect">
            <a:avLst/>
          </a:prstGeom>
          <a:solidFill>
            <a:srgbClr val="2A2A14"/>
          </a:solidFill>
          <a:ln w="254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817352" y="5486400"/>
            <a:ext cx="1371600" cy="1371600"/>
          </a:xfrm>
          <a:prstGeom prst="rect">
            <a:avLst/>
          </a:prstGeom>
          <a:solidFill>
            <a:srgbClr val="2A2A14"/>
          </a:solidFill>
          <a:ln w="254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70248" y="548640"/>
            <a:ext cx="3657600" cy="384048"/>
          </a:xfrm>
          <a:prstGeom prst="rect">
            <a:avLst/>
          </a:prstGeom>
          <a:solidFill>
            <a:srgbClr val="2A3A0A"/>
          </a:solidFill>
          <a:ln w="25400">
            <a:solidFill>
              <a:srgbClr val="8AB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70248" y="56692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D040"/>
                </a:solidFill>
              </a:rPr>
              <a:t>[ SignQuest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188720"/>
            <a:ext cx="17647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 i="0">
                <a:solidFill>
                  <a:srgbClr val="F0F0E0"/>
                </a:solidFill>
              </a:rPr>
              <a:t>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0D040"/>
                </a:solidFill>
              </a:rPr>
              <a:t>Every child deserves a voice.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6616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A080"/>
                </a:solidFill>
              </a:rPr>
              <a:t>SignQuest makes sign language fun, accessible, and effective
for the children who need it most.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4617720"/>
            <a:ext cx="4873752" cy="36576"/>
          </a:xfrm>
          <a:prstGeom prst="rect">
            <a:avLst/>
          </a:prstGeom>
          <a:solidFill>
            <a:srgbClr val="4A4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475488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08060"/>
                </a:solidFill>
              </a:rPr>
              <a:t>Let's build a world where no child is left without language.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630</Words>
  <Application>Microsoft Office PowerPoint</Application>
  <PresentationFormat>Custom</PresentationFormat>
  <Paragraphs>121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Esom Kengolden</cp:lastModifiedBy>
  <cp:revision>2</cp:revision>
  <dcterms:created xsi:type="dcterms:W3CDTF">2013-01-27T09:14:16Z</dcterms:created>
  <dcterms:modified xsi:type="dcterms:W3CDTF">2026-03-22T11:18:23Z</dcterms:modified>
  <cp:category/>
</cp:coreProperties>
</file>